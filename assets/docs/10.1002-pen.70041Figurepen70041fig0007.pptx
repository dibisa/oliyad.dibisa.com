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media/image1.jpeg" ContentType="image/jpeg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9144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rIns="0" tIns="0" bIns="0"/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rIns="0" tIns="0" bIns="0"/>
          <a:p>
            <a:r>
              <a:rPr b="0" lang="en-US" sz="1400" spc="-1" strike="noStrike">
                <a:solidFill>
                  <a:srgbClr val="303d22"/>
                </a:solidFill>
                <a:latin typeface="Arial"/>
              </a:rPr>
              <a:t>&lt;header&gt;</a:t>
            </a:r>
            <a:endParaRPr b="0" lang="en-US" sz="1400" spc="-1" strike="noStrike">
              <a:solidFill>
                <a:srgbClr val="303d22"/>
              </a:solidFill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rIns="0" tIns="0" bIns="0"/>
          <a:p>
            <a:pPr algn="r"/>
            <a:r>
              <a:rPr b="0" lang="en-US" sz="1400" spc="-1" strike="noStrike">
                <a:solidFill>
                  <a:srgbClr val="303d22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303d22"/>
              </a:solidFill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rIns="0" tIns="0" bIns="0" anchor="b"/>
          <a:p>
            <a:r>
              <a:rPr b="0" lang="en-US" sz="1400" spc="-1" strike="noStrike">
                <a:solidFill>
                  <a:srgbClr val="303d22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303d22"/>
              </a:solidFill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rIns="0" tIns="0" bIns="0" anchor="b"/>
          <a:p>
            <a:pPr algn="r"/>
            <a:fld id="{145504DB-279A-48A2-99A3-D7A64473854A}" type="slidenum">
              <a:rPr b="0" lang="en-US" sz="1400" spc="-1" strike="noStrike">
                <a:solidFill>
                  <a:srgbClr val="303d22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303d22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sldImg"/>
          </p:nvPr>
        </p:nvSpPr>
        <p:spPr>
          <a:xfrm>
            <a:off x="1587960" y="1005840"/>
            <a:ext cx="4596480" cy="3447360"/>
          </a:xfrm>
          <a:prstGeom prst="rect">
            <a:avLst/>
          </a:prstGeom>
        </p:spPr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1185120" y="4787640"/>
            <a:ext cx="5407560" cy="4816800"/>
          </a:xfrm>
          <a:prstGeom prst="rect">
            <a:avLst/>
          </a:prstGeom>
        </p:spPr>
        <p:txBody>
          <a:bodyPr lIns="0" rIns="0" tIns="0" bIns="0"/>
          <a:p>
            <a:r>
              <a:rPr b="0" lang="en-US" sz="2000" spc="-1" strike="noStrike">
                <a:latin typeface="Arial"/>
              </a:rPr>
              <a:t>3D DOSY spectra of selected region.</a:t>
            </a:r>
            <a:endParaRPr b="0" lang="en-US" sz="2000" spc="-1" strike="noStrike">
              <a:latin typeface="Arial"/>
            </a:endParaRPr>
          </a:p>
          <a:p>
            <a:r>
              <a:rPr b="0" lang="en-US" sz="2000" spc="-1" strike="noStrike">
                <a:latin typeface="Arial"/>
              </a:rPr>
              <a:t>IF THIS IMAGE HAS BEEN PROVIDED BY OR IS OWNED BY A THIRD PARTY, AS INDICATED IN THE CAPTION LINE, THEN FURTHER PERMISSION MAY BE NEEDED BEFORE ANY FURTHER USE. PLEASE CONTACT WILEY'S PERMISSIONS DEPARTMENT ON PERMISSIONS@WILEY.COM OR USE THE RIGHTSLINK SERVICE BY CLICKING ON THE 'REQUEST PERMISSIONS' LINK ACCOMPANYING THIS ARTICLE. WILEY OR AUTHOR OWNED IMAGES MAY BE USED FOR NON-COMMERCIAL PURPOSES, SUBJECT TO PROPER CITATION OF THE ARTICLE, AUTHOR, AND PUBLISHER. 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CustomShape 2"/>
          <p:cNvSpPr/>
          <p:nvPr/>
        </p:nvSpPr>
        <p:spPr>
          <a:xfrm>
            <a:off x="0" y="0"/>
            <a:ext cx="144000" cy="1198440"/>
          </a:xfrm>
          <a:prstGeom prst="rect">
            <a:avLst/>
          </a:prstGeom>
          <a:solidFill>
            <a:srgbClr val="ffce34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Shape 1"/>
          <p:cNvSpPr txBox="1"/>
          <p:nvPr/>
        </p:nvSpPr>
        <p:spPr>
          <a:xfrm>
            <a:off x="1260000" y="152280"/>
            <a:ext cx="7200000" cy="451800"/>
          </a:xfrm>
          <a:prstGeom prst="rect">
            <a:avLst/>
          </a:prstGeom>
          <a:noFill/>
          <a:ln>
            <a:noFill/>
          </a:ln>
        </p:spPr>
        <p:txBody>
          <a:bodyPr lIns="90000" rIns="90000" tIns="46800" bIns="46800"/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Characterization of Natural Rubber Latex With High‐Sensitivity, Diffusion‐Ordered, and Time Domain NMR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Shape 2"/>
          <p:cNvSpPr txBox="1"/>
          <p:nvPr/>
        </p:nvSpPr>
        <p:spPr>
          <a:xfrm>
            <a:off x="360000" y="5940000"/>
            <a:ext cx="8640000" cy="4518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US" sz="800" spc="-1" strike="noStrike">
                <a:solidFill>
                  <a:srgbClr val="0054a6"/>
                </a:solidFill>
                <a:latin typeface="Arial"/>
              </a:rPr>
              <a:t>Polymer Engineering &amp; Sci, Volume: 65, Issue: 10, Pages: 5109-5123, First published: 03 July 2025, DOI: (10.1002/pen.70041)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" name="Main graphic" descr=""/>
          <p:cNvPicPr/>
          <p:nvPr/>
        </p:nvPicPr>
        <p:blipFill>
          <a:blip r:embed="rId1"/>
          <a:stretch/>
        </p:blipFill>
        <p:spPr>
          <a:xfrm>
            <a:off x="2653200" y="762120"/>
            <a:ext cx="3888360" cy="3809880"/>
          </a:xfrm>
          <a:prstGeom prst="rect">
            <a:avLst/>
          </a:prstGeom>
          <a:ln>
            <a:noFill/>
          </a:ln>
        </p:spPr>
      </p:pic>
    </p:spTree>
  </p:cSld>
  <p:transition>
    <p:wipe dir="r"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LibreOffice/6.0.7.3$Linux_X86_64 LibreOffice_project/dc89aa7a9eabfd848af146d5086077aeed2ae4a5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